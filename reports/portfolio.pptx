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e8422df6145da" /><Relationship Type="http://schemas.openxmlformats.org/officeDocument/2006/relationships/extended-properties" Target="/docProps/app.xml" Id="Rdbd2d21b247740bc" /><Relationship Type="http://schemas.openxmlformats.org/officeDocument/2006/relationships/officeDocument" Target="/ppt/presentation.xml" Id="R7659c8660174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a3a02d3e4d4289"/>
  </p:sldMasterIdLst>
  <p:notesMasterIdLst>
    <p:notesMasterId xmlns:r="http://schemas.openxmlformats.org/officeDocument/2006/relationships" r:id="Rb68ee8c92a4c4062"/>
  </p:notesMasterIdLst>
  <p:sldIdLst>
    <p:sldId xmlns:r="http://schemas.openxmlformats.org/officeDocument/2006/relationships" id="256" r:id="R84956f6a4d094f46"/>
    <p:sldId xmlns:r="http://schemas.openxmlformats.org/officeDocument/2006/relationships" id="257" r:id="R6c8acb6a58754d96"/>
    <p:sldId xmlns:r="http://schemas.openxmlformats.org/officeDocument/2006/relationships" id="258" r:id="Rf637dabb1e03471f"/>
    <p:sldId xmlns:r="http://schemas.openxmlformats.org/officeDocument/2006/relationships" id="259" r:id="R5d4d919ba46943ea"/>
    <p:sldId xmlns:r="http://schemas.openxmlformats.org/officeDocument/2006/relationships" id="260" r:id="R8ea053d1ddc94773"/>
    <p:sldId xmlns:r="http://schemas.openxmlformats.org/officeDocument/2006/relationships" id="261" r:id="R2d660a87cc1b47c9"/>
    <p:sldId xmlns:r="http://schemas.openxmlformats.org/officeDocument/2006/relationships" id="262" r:id="R8caf76a561cb4b69"/>
    <p:sldId xmlns:r="http://schemas.openxmlformats.org/officeDocument/2006/relationships" id="263" r:id="Rb448d959fca249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026ad567b4edf" /><Relationship Type="http://schemas.openxmlformats.org/officeDocument/2006/relationships/slideMaster" Target="/ppt/slideMasters/slideMaster1.xml" Id="R0ea3a02d3e4d4289" /><Relationship Type="http://schemas.openxmlformats.org/officeDocument/2006/relationships/notesMaster" Target="/ppt/notesMasters/notesMaster1.xml" Id="Rb68ee8c92a4c4062" /><Relationship Type="http://schemas.openxmlformats.org/officeDocument/2006/relationships/presProps" Target="/ppt/presProps.xml" Id="Rf353a212df084e48" /><Relationship Type="http://schemas.openxmlformats.org/officeDocument/2006/relationships/tableStyles" Target="/ppt/tableStyles.xml" Id="Rdd038a0c4075423e" /><Relationship Type="http://schemas.openxmlformats.org/officeDocument/2006/relationships/slide" Target="/ppt/slides/slide1.xml" Id="R84956f6a4d094f46" /><Relationship Type="http://schemas.openxmlformats.org/officeDocument/2006/relationships/slide" Target="/ppt/slides/slide2.xml" Id="R6c8acb6a58754d96" /><Relationship Type="http://schemas.openxmlformats.org/officeDocument/2006/relationships/slide" Target="/ppt/slides/slide3.xml" Id="Rf637dabb1e03471f" /><Relationship Type="http://schemas.openxmlformats.org/officeDocument/2006/relationships/slide" Target="/ppt/slides/slide4.xml" Id="R5d4d919ba46943ea" /><Relationship Type="http://schemas.openxmlformats.org/officeDocument/2006/relationships/slide" Target="/ppt/slides/slide5.xml" Id="R8ea053d1ddc94773" /><Relationship Type="http://schemas.openxmlformats.org/officeDocument/2006/relationships/slide" Target="/ppt/slides/slide6.xml" Id="R2d660a87cc1b47c9" /><Relationship Type="http://schemas.openxmlformats.org/officeDocument/2006/relationships/slide" Target="/ppt/slides/slide7.xml" Id="R8caf76a561cb4b69" /><Relationship Type="http://schemas.openxmlformats.org/officeDocument/2006/relationships/slide" Target="/ppt/slides/slide8.xml" Id="Rb448d959fca2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09af0fc35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c8e0b8c584334" /><Relationship Type="http://schemas.openxmlformats.org/officeDocument/2006/relationships/notesMaster" Target="/ppt/notesMasters/notesMaster1.xml" Id="R2355b0c7011844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e96f81a974909" /><Relationship Type="http://schemas.openxmlformats.org/officeDocument/2006/relationships/notesMaster" Target="/ppt/notesMasters/notesMaster1.xml" Id="R16559b994c8044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63357194249f5" /><Relationship Type="http://schemas.openxmlformats.org/officeDocument/2006/relationships/notesMaster" Target="/ppt/notesMasters/notesMaster1.xml" Id="R7b9f5e8231bd41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ac169ced64235" /><Relationship Type="http://schemas.openxmlformats.org/officeDocument/2006/relationships/notesMaster" Target="/ppt/notesMasters/notesMaster1.xml" Id="R9a7625f08ed248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40ffaf39eb4cd5" /><Relationship Type="http://schemas.openxmlformats.org/officeDocument/2006/relationships/notesMaster" Target="/ppt/notesMasters/notesMaster1.xml" Id="Rd1d064c28afb48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a067ce8374416" /><Relationship Type="http://schemas.openxmlformats.org/officeDocument/2006/relationships/notesMaster" Target="/ppt/notesMasters/notesMaster1.xml" Id="R6b0ab98e0cd8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f1656579774260" /><Relationship Type="http://schemas.openxmlformats.org/officeDocument/2006/relationships/notesMaster" Target="/ppt/notesMasters/notesMaster1.xml" Id="R151052f812ee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3586ac77394044" /><Relationship Type="http://schemas.openxmlformats.org/officeDocument/2006/relationships/notesMaster" Target="/ppt/notesMasters/notesMaster1.xml" Id="R1f1a49af53e0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local software demonstration using synthetic banking data. No public deployment or real-bank efficacy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reports/screenshots/overview.png. Genuine local 3,000-row demo capture. These dashboard values are separate from the 100,000-row benchmark on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implemented backend/app, frontend/src and ml packages. PostgreSQL is the container target. SQLite supports local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reports/benchmark-100k/config.json, model.json, scenario_distributions.json and pipeline_performance.json. The full pipeline processed 100,000 records in 36.7689714 seconds on the local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reports/benchmark-100k/evaluation.json. Model lr-v1-652d1d411f. Threshold 0.15 selected on validation. Test prevalence 5.7%. PR-AUC is average precision. All comparators use the same test samples, with model-specific operational thresholds.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ml/explainability/__init__.py, docs/ml_methodology.md and reports/screenshots/explanation.png. The screenshot uses the separate 3,000-row demo model. Exact logistic attribution sums in log-odds.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 and backend case-action implementation. Role checks protect changes. Predictions, investigator opinions and synthetic verified labels remain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backend/tests/test_ml.py (27 passing ML tests at deck creation), docs/model_card.md, docs/data_card.md and docs/deployment.md. No claim that Docker or cloud deployment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3f5bac27648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701ae637542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3f9dbb72a43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969c540d448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1344c53f3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74eb5fa3f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33EF73-AC8C-4224-9D08-D07BF1B60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97AE9-E919-4D10-A649-C4C8D2E0B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CD30CF-3B37-4F8B-BA6C-5F73BC15C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D45E0B-3DFC-48B8-A700-62814FBD2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62D53C-E04F-4440-94B0-AE6BDF46B9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E0F1AB-6560-4DA3-A564-1632500BF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7D8995-ED97-42E5-A0CC-B7DFAFE32C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C5690B-EAA2-4EBF-B9CD-F82D2DFFE0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6822B0-EF7D-42D6-A304-0E4BFCFFE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9AEE5E-A5F6-4681-9EC8-2BCDE29610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3cba3840d47f0" /><Relationship Type="http://schemas.openxmlformats.org/officeDocument/2006/relationships/slideLayout" Target="/ppt/slideLayouts/slideLayout1.xml" Id="Rff5ca89eda534c13" /><Relationship Type="http://schemas.openxmlformats.org/officeDocument/2006/relationships/slideLayout" Target="/ppt/slideLayouts/slideLayout2.xml" Id="R486492cb692c4b7c" /><Relationship Type="http://schemas.openxmlformats.org/officeDocument/2006/relationships/slideLayout" Target="/ppt/slideLayouts/slideLayout3.xml" Id="R09b186e96d5048f3" /><Relationship Type="http://schemas.openxmlformats.org/officeDocument/2006/relationships/slideLayout" Target="/ppt/slideLayouts/slideLayout4.xml" Id="R8df765a33c224a4e" /><Relationship Type="http://schemas.openxmlformats.org/officeDocument/2006/relationships/slideLayout" Target="/ppt/slideLayouts/slideLayout5.xml" Id="Red376f1207bc442a" /><Relationship Type="http://schemas.openxmlformats.org/officeDocument/2006/relationships/slideLayout" Target="/ppt/slideLayouts/slideLayout6.xml" Id="R4cd7ad0ae2704f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ca89eda534c13"/>
    <p:sldLayoutId xmlns:r="http://schemas.openxmlformats.org/officeDocument/2006/relationships" id="2147483650" r:id="R486492cb692c4b7c"/>
    <p:sldLayoutId xmlns:r="http://schemas.openxmlformats.org/officeDocument/2006/relationships" id="2147483651" r:id="R09b186e96d5048f3"/>
    <p:sldLayoutId xmlns:r="http://schemas.openxmlformats.org/officeDocument/2006/relationships" id="2147483652" r:id="R8df765a33c224a4e"/>
    <p:sldLayoutId xmlns:r="http://schemas.openxmlformats.org/officeDocument/2006/relationships" id="2147483653" r:id="Red376f1207bc442a"/>
    <p:sldLayoutId xmlns:r="http://schemas.openxmlformats.org/officeDocument/2006/relationships" id="2147483654" r:id="R4cd7ad0ae2704f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a87b113cb4508" /><Relationship Type="http://schemas.openxmlformats.org/officeDocument/2006/relationships/notesSlide" Target="/ppt/notesSlides/notesSlide1.xml" Id="R3a9a0c300fe8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92d5a206d450f" /><Relationship Type="http://schemas.openxmlformats.org/officeDocument/2006/relationships/image" Target="/ppt/media/image.png" Id="R1b246ea5d46f41cd" /><Relationship Type="http://schemas.openxmlformats.org/officeDocument/2006/relationships/notesSlide" Target="/ppt/notesSlides/notesSlide2.xml" Id="R98b985fd39f6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699a777ea4556" /><Relationship Type="http://schemas.openxmlformats.org/officeDocument/2006/relationships/notesSlide" Target="/ppt/notesSlides/notesSlide3.xml" Id="R8c871bd49f7a4c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242e29c1e48e1" /><Relationship Type="http://schemas.openxmlformats.org/officeDocument/2006/relationships/notesSlide" Target="/ppt/notesSlides/notesSlide4.xml" Id="R6969ee19b241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cbce5c19745c3" /><Relationship Type="http://schemas.openxmlformats.org/officeDocument/2006/relationships/chart" Target="/ppt/slides/charts/chart1.xml" Id="R1b84ac29b2524a58" /><Relationship Type="http://schemas.openxmlformats.org/officeDocument/2006/relationships/notesSlide" Target="/ppt/notesSlides/notesSlide5.xml" Id="R46b96446ea4d4d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620d74c714ed8" /><Relationship Type="http://schemas.openxmlformats.org/officeDocument/2006/relationships/image" Target="/ppt/media/image2.png" Id="R406e4361282c4232" /><Relationship Type="http://schemas.openxmlformats.org/officeDocument/2006/relationships/notesSlide" Target="/ppt/notesSlides/notesSlide6.xml" Id="Rd6116b01e34f4c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46414d014420a" /><Relationship Type="http://schemas.openxmlformats.org/officeDocument/2006/relationships/notesSlide" Target="/ppt/notesSlides/notesSlide7.xml" Id="R507758b32e354f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24bebefc54d02" /><Relationship Type="http://schemas.openxmlformats.org/officeDocument/2006/relationships/notesSlide" Target="/ppt/notesSlides/notesSlide8.xml" Id="R105aa54b8c67487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2A8B73"/>
            </a:solidFill>
          </c:spPr>
          <c:invertIfNegative val="0"/>
          <c:cat>
            <c:strLit>
              <c:ptCount val="4"/>
              <c:pt idx="0">
                <c:v>Logistic regression</c:v>
              </c:pt>
              <c:pt idx="1">
                <c:v>Random forest</c:v>
              </c:pt>
              <c:pt idx="2">
                <c:v>Isolation forest</c:v>
              </c:pt>
              <c:pt idx="3">
                <c:v>Rules</c:v>
              </c:pt>
            </c:strLit>
          </c:cat>
          <c:val>
            <c:numLit>
              <c:formatCode>0.0</c:formatCode>
              <c:ptCount val="4"/>
              <c:pt idx="0">
                <c:v>0.5745</c:v>
              </c:pt>
              <c:pt idx="1">
                <c:v>0.7254</c:v>
              </c:pt>
              <c:pt idx="2">
                <c:v>0.4053</c:v>
              </c:pt>
              <c:pt idx="3">
                <c:v>0.2214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60E8-BD3F-4EB3-BD35-0CBC05EE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7F1"/>
                </a:solidFill>
                <a:latin typeface="Arial"/>
                <a:ea typeface="Arial"/>
                <a:cs typeface="Arial"/>
              </a:rPr>
              <a:t>Explainable</a:t>
            </a:r>
          </a:p>
          <a:p xmlns:a="http://schemas.openxmlformats.org/drawingml/2006/main">
            <a:pPr>
              <a:defRPr sz="5700" b="1">
                <a:solidFill>
                  <a:srgbClr val="F5F7F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7F1"/>
                </a:solidFill>
                <a:latin typeface="Arial"/>
                <a:ea typeface="Arial"/>
                <a:cs typeface="Arial"/>
              </a:rPr>
              <a:t>Fraud Radar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5534E-2FE0-4C32-844C-565C2427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7DC8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7DC89"/>
                </a:solidFill>
                <a:latin typeface="Arial"/>
                <a:ea typeface="Arial"/>
                <a:cs typeface="Arial"/>
              </a:rPr>
              <a:t>Synthetic transaction risk and investigation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0EE9B-B1A5-4B62-A1FD-B746F46F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5F7F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1"/>
                </a:solidFill>
                <a:latin typeface="Arial"/>
                <a:ea typeface="Arial"/>
                <a:cs typeface="Arial"/>
              </a:rPr>
              <a:t>PORTFOLIO CASE STUDY  /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44447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F88E1-BFF9-485C-AF2F-4F46C9FD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The investigator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4CF6E-98B7-49F4-9B16-DACAF25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FA12F-E75C-4F81-8644-EC62B1D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2433-CA50-4D86-8587-598EE46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A connected review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726D8-4C88-42D8-892B-63D5722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Browse transactions, inspect model contributions and record investigation outcomes through the same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4DAC5-3B0E-4AF9-A7E5-6FB5B867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React and TypeScript</a:t>
            </a:r>
          </a:p>
          <a:p xmlns:a="http://schemas.openxmlformats.org/drawingml/2006/main">
            <a: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FastAPI and SQLAlchemy</a:t>
            </a:r>
          </a:p>
          <a:p xmlns:a="http://schemas.openxmlformats.org/drawingml/2006/main">
            <a: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PostgreSQL deployment configuration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C6D07-6F0B-4CC5-94A6-51FC6A063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46ea5d46f41cd"/>
          <a:stretch xmlns:a="http://schemas.openxmlformats.org/drawingml/2006/main"/>
        </p:blipFill>
        <p:spPr>
          <a:xfrm xmlns:a="http://schemas.openxmlformats.org/drawingml/2006/main">
            <a:off x="6861934" y="1238250"/>
            <a:ext cx="4183131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16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43139-C3B0-4848-AC58-D75B289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A5EF9-01FE-4633-AE66-7E9B712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F6360-28CA-4C3A-9231-4B29B5A1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CFF20-C599-4E51-9E63-D566B679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01  Data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1D92D-5B4F-4C88-8855-2BC0392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763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Seeded records, schema checks and quarantine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B6D87-4D14-4567-BDE9-F787112A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02  Model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46E9A-83B9-4CE3-B93A-988ADA8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431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Chronological features, versioned training and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66A9F-6693-4DE8-BDF9-3C04A229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03  Application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8F3C0-1254-4F32-87E3-B5099EEC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99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Authenticated scoring, persistent predictions and case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F2E1E-290B-47CB-A547-48273D5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04  Review and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4845B-7AE6-4F5B-A0BF-A613327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767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React workspace, transactional audit trail and drift reports</a:t>
            </a:r>
          </a:p>
        </p:txBody>
      </p:sp>
    </p:spTree>
    <p:extLst>
      <p:ext uri="{BB962C8B-B14F-4D97-AF65-F5344CB8AC3E}">
        <p14:creationId xmlns:p14="http://schemas.microsoft.com/office/powerpoint/2010/main" val="216163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990BB-7CCA-476A-BE28-5B616FD4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Reproducible synthetic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83539-36CC-49D6-8FA0-86DA931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CCC30-A47B-4BE4-9B1B-0410F1B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80174-79BB-44C8-A81D-D38AFEDC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100,000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2A938-40F7-4857-A255-A97DBDD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transactions across 1,000 synthetic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5F8F0-A1D3-4D31-B03F-40508DC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60,000 training records</a:t>
            </a:r>
          </a:p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20,000 validation records</a:t>
            </a:r>
          </a:p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20,000 untouched test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7867-E5B9-4C18-A9F0-40E989B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History uses strictly earlier events.</a:t>
            </a:r>
          </a:p>
          <a:p xmlns:a="http://schemas.openxmlformats.org/drawingml/2006/main">
            <a: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Equal timestamps stay within one split.</a:t>
            </a:r>
          </a:p>
          <a:p xmlns:a="http://schemas.openxmlformats.org/drawingml/2006/main">
            <a:pPr>
              <a:defRPr sz="195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Labels remain separate from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AD97-8F85-4AAD-9504-1FB3419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Seed 42. Configurable prevalence, customer count and historical period.</a:t>
            </a:r>
          </a:p>
        </p:txBody>
      </p:sp>
    </p:spTree>
    <p:extLst>
      <p:ext uri="{BB962C8B-B14F-4D97-AF65-F5344CB8AC3E}">
        <p14:creationId xmlns:p14="http://schemas.microsoft.com/office/powerpoint/2010/main" val="1730975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68D3F-F06B-41C8-9ED1-20E4DC4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Held-out synthetic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76535-78E0-486F-AAB6-8CF47B1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F4DF2-CA24-4725-BABB-8515C96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D620-4A26-4DD9-B746-DCC3A5F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74.6%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42AC-E538-405E-A196-E8A06EC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47.1% precision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9A0E889-007E-4668-9610-8DE8738C468D}"/>
              </a:ext>
            </a:extLst>
          </p:cNvPr>
          <p:cNvGraphicFramePr/>
          <p:nvPr/>
        </p:nvGraphicFramePr>
        <p:xfrm>
          <a:off xmlns:a="http://schemas.openxmlformats.org/drawingml/2006/main" x="666750" y="2428875"/>
          <a:ext xmlns:a="http://schemas.openxmlformats.org/drawingml/2006/main" cx="7239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84ac29b2524a5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640BF-4E75-41C2-8CAF-9B4C8E8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1,808 alerts</a:t>
            </a:r>
          </a:p>
          <a:p xmlns:a="http://schemas.openxmlformats.org/drawingml/2006/main">
            <a: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957 false positives</a:t>
            </a:r>
          </a:p>
          <a:p xmlns:a="http://schemas.openxmlformats.org/drawingml/2006/main">
            <a:pPr>
              <a:defRPr sz="2100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289 missed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FDDDD-ADFD-4680-83FD-67A166B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PR-AUC comparison. 20,000 test records. Synthetic benchmark only.</a:t>
            </a:r>
          </a:p>
        </p:txBody>
      </p:sp>
    </p:spTree>
    <p:extLst>
      <p:ext uri="{BB962C8B-B14F-4D97-AF65-F5344CB8AC3E}">
        <p14:creationId xmlns:p14="http://schemas.microsoft.com/office/powerpoint/2010/main" val="898138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5BE70-C0F9-41C7-81DD-E9ADA89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Explanations reproduce the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8CD91-7988-4894-A5CC-92455930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BD2D-FBA7-466F-90DC-78922A5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1553D-C38C-4F95-BBF4-F22A1FB1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Baseline + feature contributions</a:t>
            </a:r>
          </a:p>
          <a:p xmlns:a="http://schemas.openxmlformats.org/drawingml/2006/main">
            <a: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= model log-odds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84228-1325-40DE-86AE-23F7E4D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The sigmoid converts log-odds into the displayed probability. Operational risk equals probability multiplied by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60D62-9466-49D2-87AE-9D42A78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Anomaly percentiles and rule scores remain separate context. Attribution does not establish causation or confirmed fraud.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68CC0-5975-48F6-9B65-4B1EEDE166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e4361282c4232"/>
          <a:stretch xmlns:a="http://schemas.openxmlformats.org/drawingml/2006/main"/>
        </p:blipFill>
        <p:spPr>
          <a:xfrm xmlns:a="http://schemas.openxmlformats.org/drawingml/2006/main">
            <a:off x="7765449" y="1190625"/>
            <a:ext cx="247135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65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DA6D9-AC02-4552-A22B-64612C4A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Investigation and audit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E9311-209F-48E6-8FB4-B39FAC7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2FA43-0911-4CCD-A92F-F8CEDF5A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7D904-774A-4673-B44F-CB873AC7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Each case preserves a review trail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8858-5CBF-40E7-B9C0-39ABFC2A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638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Assignment identifies the reviewer.</a:t>
            </a:r>
          </a:p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Notes capture evidence and reasoning.</a:t>
            </a:r>
          </a:p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Escalation routes unresolved concerns.</a:t>
            </a:r>
          </a:p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Disposition records the review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817D9-7C18-44E9-A90B-65B7F579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Database transactions keep case changes and audit events consistent.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2FC0C-56C9-4161-9738-4A6E5638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The application does not freeze accounts or move money.</a:t>
            </a:r>
          </a:p>
        </p:txBody>
      </p:sp>
    </p:spTree>
    <p:extLst>
      <p:ext uri="{BB962C8B-B14F-4D97-AF65-F5344CB8AC3E}">
        <p14:creationId xmlns:p14="http://schemas.microsoft.com/office/powerpoint/2010/main" val="1614619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762C7-DC63-4C96-8AD4-1CEC924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52B"/>
                </a:solidFill>
                <a:latin typeface="Arial"/>
                <a:ea typeface="Arial"/>
                <a:cs typeface="Arial"/>
              </a:rPr>
              <a:t>Validation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66BC0-66E1-4B2E-B74E-28981024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EXPLAINABLE FRAUD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F790-43D4-43FE-8CE2-F3EEF8C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6945E-FB77-430B-BB4B-95BE310B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356EB-41DA-4659-A074-F0A633F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3816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100,000-record pipeline execution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27 passing ML tests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Additive explanation reconstruction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Training and inference feature parity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Drift detection on shifted samples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ED75D-D9BA-480B-8E51-19D4DCD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8B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8B73"/>
                </a:solidFill>
                <a:latin typeface="Arial"/>
                <a:ea typeface="Arial"/>
                <a:cs typeface="Arial"/>
              </a:rPr>
              <a:t>Before real financial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8E88F-0F7D-4E03-B18F-BA61201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Independent data and calibration review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Security and operational assessment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Mature verified outcome monitoring</a:t>
            </a:r>
          </a:p>
          <a:p xmlns:a="http://schemas.openxmlformats.org/drawingml/2006/main">
            <a:pPr>
              <a:defRPr sz="2025" b="0">
                <a:solidFill>
                  <a:srgbClr val="1535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2B"/>
                </a:solidFill>
                <a:latin typeface="Arial"/>
                <a:ea typeface="Arial"/>
                <a:cs typeface="Arial"/>
              </a:rPr>
              <a:t>Deployment and resilience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7F824-6763-466A-A74E-D083999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B71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168"/>
                </a:solidFill>
                <a:latin typeface="Arial"/>
                <a:ea typeface="Arial"/>
                <a:cs typeface="Arial"/>
              </a:rPr>
              <a:t>Synthetic demonstrations cannot establish real-bank effectiveness or regulatory readiness.</a:t>
            </a:r>
          </a:p>
        </p:txBody>
      </p:sp>
    </p:spTree>
    <p:extLst>
      <p:ext uri="{BB962C8B-B14F-4D97-AF65-F5344CB8AC3E}">
        <p14:creationId xmlns:p14="http://schemas.microsoft.com/office/powerpoint/2010/main" val="1795348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2026-10-23T11:32:43.1400000Z</dcterms:created>
  <dcterms:modified xsi:type="dcterms:W3CDTF">2026-10-23T11:32:43.1410000Z</dcterms:modified>
</coreProperties>
</file>